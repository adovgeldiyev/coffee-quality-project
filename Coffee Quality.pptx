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46" Type="http://schemas.openxmlformats.org/officeDocument/2006/relationships/font" Target="fonts/Lato-bold.fntdata"/><Relationship Id="rId23" Type="http://schemas.openxmlformats.org/officeDocument/2006/relationships/slide" Target="slides/slide18.xml"/><Relationship Id="rId45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Lato-boldItalic.fntdata"/><Relationship Id="rId25" Type="http://schemas.openxmlformats.org/officeDocument/2006/relationships/slide" Target="slides/slide20.xml"/><Relationship Id="rId47" Type="http://schemas.openxmlformats.org/officeDocument/2006/relationships/font" Target="fonts/La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aleway-italic.fntdata"/><Relationship Id="rId16" Type="http://schemas.openxmlformats.org/officeDocument/2006/relationships/slide" Target="slides/slide11.xml"/><Relationship Id="rId38" Type="http://schemas.openxmlformats.org/officeDocument/2006/relationships/font" Target="fonts/Raleway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32b1383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32b1383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532b1383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532b1383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32b1383a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32b1383a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32b1383a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32b1383a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32b1383a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32b1383a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187754f2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187754f2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120a26f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120a26f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9187754f20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9187754f20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120a26f8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120a26f8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187754f20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187754f20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187754f20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187754f20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187754f20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187754f20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9187754f20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9187754f20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9187754f20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9187754f20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9187754f20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9187754f20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32b1383af_9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32b1383af_9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32b1383af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32b1383a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32b1383af_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32b1383af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32b1383af_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32b1383af_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32b1383af_8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32b1383af_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532b1383af_8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532b1383af_8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532b1383a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532b1383a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9187754f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9187754f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92ea3a4cb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92ea3a4cb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9187754f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9187754f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92ea3a4cb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92ea3a4cb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92ea3a4cb1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92ea3a4cb1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9187754f2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9187754f2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532b1383a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532b1383a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92ea3a4c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92ea3a4c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1080/10408398.2017.1369391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of Coffee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2834125"/>
            <a:ext cx="8520600" cy="1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 Klaus, Azat Dovgeldiyev, Jackie Prescott, Kris Varothai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549425"/>
            <a:ext cx="7688700" cy="5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Coffee Bean Types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098725"/>
            <a:ext cx="3842700" cy="3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Arabica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common coffee bean in North America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Grown mostly in Brazil, with higher elevation levels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Sweeter, delicate flavor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expensive due to environmental factors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Robusta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common in Europe, Africa, Middle East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Strong, harsh flavor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Higher levels of caffeine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Relatively cheaper due to crop resilience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4" name="Google Shape;94;p14"/>
          <p:cNvSpPr txBox="1"/>
          <p:nvPr/>
        </p:nvSpPr>
        <p:spPr>
          <a:xfrm>
            <a:off x="4617450" y="1098725"/>
            <a:ext cx="38007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•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Liberica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Grown mostly in the Philippines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Fruity, flowery aroma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•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Excelsa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Grown primarily in Southeast Asia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Tart, fruity flavor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29500" y="4640850"/>
            <a:ext cx="76887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https://districtroasters.com/blogs/news/types-of-coffee-beans#:~:text=There%20are%20four%20primary%20types,dewevrei).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59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Coffee Qualities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1379400"/>
            <a:ext cx="3842700" cy="29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Flavor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eneral taste of the coffee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Overall perception including all the quality types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Aroma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Smell or fragrance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Indicative of freshness and whether any coffee bean defects are present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Floral, nutty, fruity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Mouthfeel of the viscosity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Light, medium, full-bodied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0" y="1379400"/>
            <a:ext cx="3822600" cy="29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•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Bitterness/Balance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Primary coffee flavor sensation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Arabica is generally less bitter than Robusta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•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Acidity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Quality of the coffee’s acidity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Sharp, tingly, numbing sensation during the aftertaste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•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Sweetness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Smooth or mildness of the coffee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•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Aftertaste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Experience after you sip the coffee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•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Quick, long, lingering, dry, light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29450" y="4605775"/>
            <a:ext cx="77073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https://espressocoffeeguide.com/quality-coffee/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593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Genomics and Coffee Quality</a:t>
            </a:r>
            <a:endParaRPr sz="1400"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95650" y="1379400"/>
            <a:ext cx="4542600" cy="29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Researchers looked at the genomes of coffee species to be able to produce higher quality coffee beans with genetic modification to increase yield and enhance overall quality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Genome segments, markers, linked genes, modes of inheritance, and biochemical compounds were identified and discussed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425" y="1240500"/>
            <a:ext cx="32385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4957275" y="4340100"/>
            <a:ext cx="3964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Tran HT, Lee LS, Furtado A, Smyth H, Henry RJ. Advances in genomics for the improvement of quality in coffee. </a:t>
            </a:r>
            <a:r>
              <a:rPr i="1" lang="en" sz="1100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 Sci Food Agric</a:t>
            </a:r>
            <a:r>
              <a:rPr lang="en" sz="1100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2016;96(10):3300-3312. doi:10.1002/jsfa.7692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Coffee and Health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1391075"/>
            <a:ext cx="4189200" cy="29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Negative correlations have been examined between coffee and…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-Colorectal cancer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-Pancreas cancer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-Liver cancer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	-Prostate cancer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-Breast cancer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-Endometrial Cancer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	-Oral Cancer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-Parkinson’s Disease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-Type II Diabetes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-Cardiovascular Disease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	-Obesity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724775" y="4465500"/>
            <a:ext cx="3787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Büşra Başar Gökcen &amp; Nevin Şanlier (2019) Coffee consumption and disease correlations, Critical Reviews in Food Science and Nutrition, 59:2, 336-348, DOI: </a:t>
            </a:r>
            <a:r>
              <a:rPr lang="en" sz="900">
                <a:solidFill>
                  <a:srgbClr val="333333"/>
                </a:solidFill>
                <a:highlight>
                  <a:srgbClr val="FFFFFF"/>
                </a:highlight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10.1080/10408398.2017.1369391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1213" y="2746325"/>
            <a:ext cx="3177725" cy="22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4350" y="605575"/>
            <a:ext cx="3524999" cy="200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76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Brazil Economics and Coffee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537725" y="1274175"/>
            <a:ext cx="4231800" cy="3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•Explored the regional and economic changes in coffee production over the years through government regulation and resource availability</a:t>
            </a:r>
            <a:endParaRPr sz="19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•Found that production, planted area, price, and productivity were related</a:t>
            </a:r>
            <a:endParaRPr sz="19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•Used PCA to determine combinations of microregions and production of the two species</a:t>
            </a:r>
            <a:endParaRPr sz="19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82875"/>
            <a:ext cx="4267200" cy="270286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4817175" y="4116150"/>
            <a:ext cx="39744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Volsi B, Telles TS, Caldarelli CE, Camara MRGD. The dynamics of coffee production in Brazil. </a:t>
            </a:r>
            <a:r>
              <a:rPr i="1" lang="en" sz="1000">
                <a:latin typeface="Raleway"/>
                <a:ea typeface="Raleway"/>
                <a:cs typeface="Raleway"/>
                <a:sym typeface="Raleway"/>
              </a:rPr>
              <a:t>PLoS One</a:t>
            </a:r>
            <a:r>
              <a:rPr lang="en" sz="1000">
                <a:latin typeface="Raleway"/>
                <a:ea typeface="Raleway"/>
                <a:cs typeface="Raleway"/>
                <a:sym typeface="Raleway"/>
              </a:rPr>
              <a:t>. 2019;14(7):e0219742. Published 2019 Jul 23. doi:10.1371/journal.pone.0219742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CCA for Mulberries</a:t>
            </a:r>
            <a:endParaRPr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311700" y="4608275"/>
            <a:ext cx="8520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94C4E"/>
                </a:solidFill>
              </a:rPr>
              <a:t>Sun, R., Sun, L., &amp; Han, C. (2018). Partial-least-squares and canonical-correlation analysis of chemical constituents and active     ingredients of new types of Chinese mulberries. Food Science &amp; Nutrition, 6(7), 1950–1959. https://doi.org/10.1002/fsn3.753</a:t>
            </a:r>
            <a:endParaRPr sz="1000"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311700" y="1301100"/>
            <a:ext cx="3602700" cy="30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2500"/>
              </a:spcBef>
              <a:spcAft>
                <a:spcPts val="0"/>
              </a:spcAft>
              <a:buClr>
                <a:srgbClr val="4E5057"/>
              </a:buClr>
              <a:buSzPts val="1300"/>
              <a:buChar char="●"/>
            </a:pPr>
            <a:r>
              <a:rPr lang="en">
                <a:solidFill>
                  <a:srgbClr val="494C4E"/>
                </a:solidFill>
              </a:rPr>
              <a:t>Research Question: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Investigate the association between chemical constituents and active ingredients of different types of Chinese mulberries</a:t>
            </a:r>
            <a:endParaRPr>
              <a:solidFill>
                <a:srgbClr val="494C4E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E5057"/>
              </a:buClr>
              <a:buSzPts val="1300"/>
              <a:buChar char="●"/>
            </a:pPr>
            <a:r>
              <a:rPr lang="en">
                <a:solidFill>
                  <a:srgbClr val="494C4E"/>
                </a:solidFill>
              </a:rPr>
              <a:t>Components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Chemical Components and Mineral Elements</a:t>
            </a:r>
            <a:endParaRPr>
              <a:solidFill>
                <a:srgbClr val="494C4E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300"/>
              <a:buChar char="●"/>
            </a:pPr>
            <a:r>
              <a:rPr lang="en">
                <a:solidFill>
                  <a:srgbClr val="494C4E"/>
                </a:solidFill>
              </a:rPr>
              <a:t>Takeaways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Reduced sugar and crude fat affected the quality of the mulberries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Extrapolate how this could be applied to coffee beans</a:t>
            </a:r>
            <a:endParaRPr>
              <a:solidFill>
                <a:srgbClr val="494C4E"/>
              </a:solidFill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10313" r="0" t="0"/>
          <a:stretch/>
        </p:blipFill>
        <p:spPr>
          <a:xfrm>
            <a:off x="3914400" y="1208088"/>
            <a:ext cx="5003276" cy="208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>
            <p:ph type="title"/>
          </p:nvPr>
        </p:nvSpPr>
        <p:spPr>
          <a:xfrm>
            <a:off x="4033300" y="3362713"/>
            <a:ext cx="20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C4E"/>
                </a:solidFill>
              </a:rPr>
              <a:t>f1: activity</a:t>
            </a:r>
            <a:endParaRPr sz="900">
              <a:solidFill>
                <a:srgbClr val="494C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C4E"/>
                </a:solidFill>
              </a:rPr>
              <a:t>f</a:t>
            </a:r>
            <a:r>
              <a:rPr lang="en" sz="900">
                <a:solidFill>
                  <a:srgbClr val="494C4E"/>
                </a:solidFill>
              </a:rPr>
              <a:t>2: reduced sugar/crude protein</a:t>
            </a:r>
            <a:endParaRPr sz="900">
              <a:solidFill>
                <a:srgbClr val="494C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C4E"/>
                </a:solidFill>
              </a:rPr>
              <a:t>f3: crude fat and pectin</a:t>
            </a:r>
            <a:endParaRPr sz="900">
              <a:solidFill>
                <a:srgbClr val="494C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94C4E"/>
              </a:solidFill>
            </a:endParaRPr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6547200" y="3362713"/>
            <a:ext cx="20592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C4E"/>
                </a:solidFill>
              </a:rPr>
              <a:t>f4: indices of mineral elements</a:t>
            </a:r>
            <a:endParaRPr sz="900">
              <a:solidFill>
                <a:srgbClr val="494C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C4E"/>
                </a:solidFill>
              </a:rPr>
              <a:t>f5: </a:t>
            </a:r>
            <a:r>
              <a:rPr lang="en" sz="900">
                <a:solidFill>
                  <a:srgbClr val="494C4E"/>
                </a:solidFill>
              </a:rPr>
              <a:t>indices of mineral elements</a:t>
            </a:r>
            <a:endParaRPr sz="900">
              <a:solidFill>
                <a:srgbClr val="494C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94C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94C4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727650" y="560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of Data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1700" y="1128075"/>
            <a:ext cx="8520600" cy="3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94C4E"/>
                </a:solidFill>
              </a:rPr>
              <a:t>This dataset is derived</a:t>
            </a:r>
            <a:r>
              <a:rPr lang="en" sz="1800">
                <a:solidFill>
                  <a:srgbClr val="4E5057"/>
                </a:solidFill>
                <a:highlight>
                  <a:srgbClr val="FFFFFF"/>
                </a:highlight>
              </a:rPr>
              <a:t> from the Coffee Quality Institute. The dataset was scraped from the web and converted into tabular data.</a:t>
            </a:r>
            <a:endParaRPr sz="1800">
              <a:solidFill>
                <a:srgbClr val="4E5057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2500"/>
              </a:spcBef>
              <a:spcAft>
                <a:spcPts val="0"/>
              </a:spcAft>
              <a:buClr>
                <a:srgbClr val="4E5057"/>
              </a:buClr>
              <a:buSzPts val="1800"/>
              <a:buAutoNum type="alphaUcPeriod"/>
            </a:pPr>
            <a:r>
              <a:rPr lang="en" sz="1800">
                <a:solidFill>
                  <a:srgbClr val="4E5057"/>
                </a:solidFill>
                <a:highlight>
                  <a:srgbClr val="FFFFFF"/>
                </a:highlight>
              </a:rPr>
              <a:t>21 continuous variables; 22 categorical variables (43 total variables)</a:t>
            </a:r>
            <a:endParaRPr sz="1800">
              <a:solidFill>
                <a:srgbClr val="4E5057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E5057"/>
              </a:buClr>
              <a:buSzPts val="1800"/>
              <a:buAutoNum type="alphaUcPeriod"/>
            </a:pPr>
            <a:r>
              <a:rPr lang="en" sz="1800">
                <a:solidFill>
                  <a:srgbClr val="4E5057"/>
                </a:solidFill>
                <a:highlight>
                  <a:srgbClr val="FFFFFF"/>
                </a:highlight>
              </a:rPr>
              <a:t>1339 rows</a:t>
            </a:r>
            <a:endParaRPr sz="1800">
              <a:solidFill>
                <a:srgbClr val="4E5057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E5057"/>
              </a:buClr>
              <a:buSzPts val="1800"/>
              <a:buAutoNum type="alphaUcPeriod"/>
            </a:pPr>
            <a:r>
              <a:rPr lang="en" sz="1800">
                <a:solidFill>
                  <a:srgbClr val="4E5057"/>
                </a:solidFill>
                <a:highlight>
                  <a:srgbClr val="FFFFFF"/>
                </a:highlight>
              </a:rPr>
              <a:t>Variables can be categorized into 3 categories: Quality Measures; Bean Metadata; Farm Metadata</a:t>
            </a:r>
            <a:endParaRPr sz="1800">
              <a:solidFill>
                <a:srgbClr val="4E5057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E5057"/>
              </a:buClr>
              <a:buSzPts val="1800"/>
              <a:buAutoNum type="alphaUcPeriod"/>
            </a:pPr>
            <a:r>
              <a:rPr lang="en" sz="1800">
                <a:solidFill>
                  <a:srgbClr val="4E5057"/>
                </a:solidFill>
                <a:highlight>
                  <a:srgbClr val="FFFFFF"/>
                </a:highlight>
              </a:rPr>
              <a:t>Missing data was present</a:t>
            </a:r>
            <a:endParaRPr sz="1800">
              <a:solidFill>
                <a:srgbClr val="4E5057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727650" y="590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of Analysis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313500" y="149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Test of normality on dependent variable (Cupper Point)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Examine correlation coefficients of dependent and independent variables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Fitting full linear model and check for multicollinearity </a:t>
            </a:r>
            <a:r>
              <a:rPr lang="en" sz="1600"/>
              <a:t>among independent variables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Split data into train/test at 70/30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Perform stepwise regression using AIC criteria for including and dropping variables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Perform Lasso, Ridge, and Elastic Net regression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Comparison of these four regression techniques. </a:t>
            </a:r>
            <a:endParaRPr sz="1600"/>
          </a:p>
          <a:p>
            <a:pPr indent="0" lvl="0" marL="0" rtl="0" algn="l">
              <a:spcBef>
                <a:spcPts val="2500"/>
              </a:spcBef>
              <a:spcAft>
                <a:spcPts val="2500"/>
              </a:spcAft>
              <a:buNone/>
            </a:pPr>
            <a:br>
              <a:rPr lang="en">
                <a:solidFill>
                  <a:srgbClr val="4A86E8"/>
                </a:solidFill>
                <a:highlight>
                  <a:srgbClr val="FFFFFF"/>
                </a:highlight>
              </a:rPr>
            </a:br>
            <a:br>
              <a:rPr lang="en">
                <a:solidFill>
                  <a:srgbClr val="4A86E8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4A86E8"/>
                </a:solidFill>
                <a:highlight>
                  <a:srgbClr val="FFFFFF"/>
                </a:highlight>
              </a:rPr>
              <a:t>Note: </a:t>
            </a:r>
            <a:r>
              <a:rPr lang="en">
                <a:solidFill>
                  <a:srgbClr val="4A86E8"/>
                </a:solidFill>
                <a:highlight>
                  <a:srgbClr val="FFFFFF"/>
                </a:highlight>
              </a:rPr>
              <a:t>Total Cup Points variable was not used in regression analysis as it is the sum of variables: aroma, flavor, aftertaste, acidity, body, balance, uniformity, clean.cup, sweetness, and cupper points.</a:t>
            </a:r>
            <a:r>
              <a:rPr lang="en">
                <a:solidFill>
                  <a:srgbClr val="4E5057"/>
                </a:solidFill>
                <a:highlight>
                  <a:srgbClr val="FFFFFF"/>
                </a:highlight>
              </a:rPr>
              <a:t> </a:t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7652700" y="4812375"/>
            <a:ext cx="14913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Kris Varothai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Normality Test via Histogram </a:t>
            </a:r>
            <a:r>
              <a:rPr lang="en"/>
              <a:t>Visualization</a:t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025" y="1320950"/>
            <a:ext cx="5265950" cy="30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Examination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25" y="1280301"/>
            <a:ext cx="7994950" cy="32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/>
        </p:nvSpPr>
        <p:spPr>
          <a:xfrm>
            <a:off x="1547700" y="4613700"/>
            <a:ext cx="60486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Notable correlations are among predictors, highlighted yellow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1700" y="433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from Full Model and VIF</a:t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25" y="984451"/>
            <a:ext cx="3861375" cy="3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588" y="4284100"/>
            <a:ext cx="7203626" cy="7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1175" y="1151346"/>
            <a:ext cx="5381625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Stepwise Regression using AIC Criteria</a:t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161875" y="4672575"/>
            <a:ext cx="8982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0.0007 increase in adj. R-square value and a drastic increase in the F-statistic from 157.3 to 269.9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 Plot</a:t>
            </a:r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322388"/>
            <a:ext cx="5943600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Coefficients for Regression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04650" y="1152475"/>
            <a:ext cx="27624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Lasso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3219442" y="1152475"/>
            <a:ext cx="2695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Ridge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6117675" y="1152475"/>
            <a:ext cx="2695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Elastic Net</a:t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48375"/>
            <a:ext cx="27622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442" y="1667425"/>
            <a:ext cx="26955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7675" y="1667425"/>
            <a:ext cx="2714625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Model Performance</a:t>
            </a: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323775" y="1754900"/>
            <a:ext cx="2303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Stepwise with AIC Criteria</a:t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2595373" y="1754900"/>
            <a:ext cx="2303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Lasso Regression</a:t>
            </a:r>
            <a:endParaRPr/>
          </a:p>
        </p:txBody>
      </p:sp>
      <p:sp>
        <p:nvSpPr>
          <p:cNvPr id="203" name="Google Shape;203;p28"/>
          <p:cNvSpPr txBox="1"/>
          <p:nvPr/>
        </p:nvSpPr>
        <p:spPr>
          <a:xfrm>
            <a:off x="4513800" y="1754900"/>
            <a:ext cx="2303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Ridge Regression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6733900" y="1754900"/>
            <a:ext cx="23031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 Regression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038" y="2291900"/>
            <a:ext cx="15525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2050" y="2310950"/>
            <a:ext cx="16097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3825" y="2306188"/>
            <a:ext cx="15430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7263" y="2296663"/>
            <a:ext cx="147637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727650" y="595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the variance and test for reliability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4" name="Google Shape;2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325" y="1275825"/>
            <a:ext cx="3880800" cy="350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/>
          <p:nvPr/>
        </p:nvSpPr>
        <p:spPr>
          <a:xfrm>
            <a:off x="4924175" y="1323025"/>
            <a:ext cx="3487800" cy="3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KMO statistic indicate that the correlations between pairs of variables can be explained by other variables (0.7&lt;)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Bartlett’s test of sphericity suggests there is enough variance to run the model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Cronbach’s alpha was run to test how closely related a set of items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29450" y="1245700"/>
            <a:ext cx="7688700" cy="6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for Coffee Quality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729450" y="2169925"/>
            <a:ext cx="7688700" cy="23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Parallel analysis suggests that the number of factors =  3  and the number of components =  3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600"/>
              <a:buChar char="●"/>
            </a:pPr>
            <a:r>
              <a:rPr lang="en" sz="1600">
                <a:solidFill>
                  <a:srgbClr val="494C4E"/>
                </a:solidFill>
              </a:rPr>
              <a:t>Running PCA analysis initially on 3 components, first component (RC1) shows the variables that deals with taste of coffee, we could say that RC1 is taste profile.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 plots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600"/>
              <a:buChar char="●"/>
            </a:pPr>
            <a:r>
              <a:rPr lang="en" sz="1600">
                <a:solidFill>
                  <a:srgbClr val="3A3B41"/>
                </a:solidFill>
                <a:highlight>
                  <a:schemeClr val="lt1"/>
                </a:highlight>
              </a:rPr>
              <a:t>PCA tries to put maximum possible information in the first component.</a:t>
            </a:r>
            <a:endParaRPr/>
          </a:p>
        </p:txBody>
      </p:sp>
      <p:pic>
        <p:nvPicPr>
          <p:cNvPr id="228" name="Google Shape;2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638950"/>
            <a:ext cx="3530000" cy="178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8900" y="2638950"/>
            <a:ext cx="4279250" cy="17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687000" y="604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 of each features</a:t>
            </a:r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320600"/>
            <a:ext cx="3710825" cy="20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725" y="2264000"/>
            <a:ext cx="4098425" cy="20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/>
          <p:nvPr/>
        </p:nvSpPr>
        <p:spPr>
          <a:xfrm>
            <a:off x="813625" y="1323025"/>
            <a:ext cx="76044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Largest circles contribute more on the given components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Aftertaste and Balance have the highest contributions to the Coffee taste grading, Quakers does not have at all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727650" y="615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Loadings</a:t>
            </a:r>
            <a:endParaRPr/>
          </a:p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6433575" y="1275825"/>
            <a:ext cx="2211900" cy="30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Three values are greater than 1. Based on </a:t>
            </a:r>
            <a:r>
              <a:rPr lang="en">
                <a:solidFill>
                  <a:srgbClr val="000000"/>
                </a:solidFill>
              </a:rPr>
              <a:t>eigenvalues</a:t>
            </a:r>
            <a:r>
              <a:rPr lang="en">
                <a:solidFill>
                  <a:srgbClr val="000000"/>
                </a:solidFill>
              </a:rPr>
              <a:t> we can use 3 components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Component 1 deals with taste, Component 2 defect classification and Component 3 with cup-to cup differences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275825"/>
            <a:ext cx="5704124" cy="34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features</a:t>
            </a:r>
            <a:endParaRPr/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300" y="1853850"/>
            <a:ext cx="4252050" cy="25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4"/>
          <p:cNvSpPr txBox="1"/>
          <p:nvPr/>
        </p:nvSpPr>
        <p:spPr>
          <a:xfrm>
            <a:off x="5405275" y="1896100"/>
            <a:ext cx="28938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Table shows features with highest contributions to the Component that deals with taste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729450" y="605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 Analysis</a:t>
            </a:r>
            <a:endParaRPr/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729450" y="1601500"/>
            <a:ext cx="3248100" cy="27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Matches results from PCA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Three factors contribute to 52.5% of variance in the data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Factor 1: Taste Factor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Factor 2: Stability Factor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Factor 3: Defects</a:t>
            </a:r>
            <a:endParaRPr/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2388" y="801800"/>
            <a:ext cx="324802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5121600" y="1318650"/>
            <a:ext cx="3602700" cy="29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2500"/>
              </a:spcBef>
              <a:spcAft>
                <a:spcPts val="0"/>
              </a:spcAft>
              <a:buClr>
                <a:srgbClr val="4E5057"/>
              </a:buClr>
              <a:buSzPts val="1300"/>
              <a:buChar char="●"/>
            </a:pPr>
            <a:r>
              <a:rPr lang="en">
                <a:solidFill>
                  <a:srgbClr val="494C4E"/>
                </a:solidFill>
              </a:rPr>
              <a:t>Components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Taste  and Cup to Cup Differences</a:t>
            </a:r>
            <a:endParaRPr>
              <a:solidFill>
                <a:srgbClr val="494C4E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300"/>
              <a:buChar char="●"/>
            </a:pPr>
            <a:r>
              <a:rPr lang="en">
                <a:solidFill>
                  <a:srgbClr val="494C4E"/>
                </a:solidFill>
              </a:rPr>
              <a:t>Takeaways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Most variables have a strong negative influence on the opposing set of variables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Aftertaste has the strongest influence of any variable in the correlation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Confirms that taste variables are associated with cup to cup difference variables</a:t>
            </a:r>
            <a:endParaRPr>
              <a:solidFill>
                <a:srgbClr val="494C4E"/>
              </a:solidFill>
            </a:endParaRPr>
          </a:p>
        </p:txBody>
      </p:sp>
      <p:sp>
        <p:nvSpPr>
          <p:cNvPr id="264" name="Google Shape;264;p36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CCA for PCA Components</a:t>
            </a:r>
            <a:endParaRPr/>
          </a:p>
        </p:txBody>
      </p:sp>
      <p:pic>
        <p:nvPicPr>
          <p:cNvPr id="265" name="Google Shape;265;p36"/>
          <p:cNvPicPr preferRelativeResize="0"/>
          <p:nvPr/>
        </p:nvPicPr>
        <p:blipFill rotWithShape="1">
          <a:blip r:embed="rId3">
            <a:alphaModFix/>
          </a:blip>
          <a:srcRect b="0" l="0" r="45666" t="0"/>
          <a:stretch/>
        </p:blipFill>
        <p:spPr>
          <a:xfrm>
            <a:off x="706975" y="1235625"/>
            <a:ext cx="4199999" cy="37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729450" y="1318650"/>
            <a:ext cx="12561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First Variate (AfterTaste)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Aftertaste</a:t>
            </a:r>
            <a:r>
              <a:rPr lang="en"/>
              <a:t> Diagnostics</a:t>
            </a:r>
            <a:endParaRPr/>
          </a:p>
        </p:txBody>
      </p:sp>
      <p:pic>
        <p:nvPicPr>
          <p:cNvPr id="272" name="Google Shape;272;p37"/>
          <p:cNvPicPr preferRelativeResize="0"/>
          <p:nvPr/>
        </p:nvPicPr>
        <p:blipFill rotWithShape="1">
          <a:blip r:embed="rId3">
            <a:alphaModFix/>
          </a:blip>
          <a:srcRect b="61367" l="60319" r="0" t="0"/>
          <a:stretch/>
        </p:blipFill>
        <p:spPr>
          <a:xfrm>
            <a:off x="729450" y="1912603"/>
            <a:ext cx="3747026" cy="17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7"/>
          <p:cNvPicPr preferRelativeResize="0"/>
          <p:nvPr/>
        </p:nvPicPr>
        <p:blipFill rotWithShape="1">
          <a:blip r:embed="rId3">
            <a:alphaModFix/>
          </a:blip>
          <a:srcRect b="0" l="60319" r="0" t="38849"/>
          <a:stretch/>
        </p:blipFill>
        <p:spPr>
          <a:xfrm>
            <a:off x="5006400" y="1912600"/>
            <a:ext cx="3411749" cy="25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Aftertaste Variate</a:t>
            </a:r>
            <a:endParaRPr/>
          </a:p>
        </p:txBody>
      </p:sp>
      <p:pic>
        <p:nvPicPr>
          <p:cNvPr id="279" name="Google Shape;2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360575"/>
            <a:ext cx="6855849" cy="36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5121600" y="1318650"/>
            <a:ext cx="3602700" cy="29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2500"/>
              </a:spcBef>
              <a:spcAft>
                <a:spcPts val="0"/>
              </a:spcAft>
              <a:buClr>
                <a:srgbClr val="4E5057"/>
              </a:buClr>
              <a:buSzPts val="1300"/>
              <a:buChar char="●"/>
            </a:pPr>
            <a:r>
              <a:rPr lang="en">
                <a:solidFill>
                  <a:srgbClr val="494C4E"/>
                </a:solidFill>
              </a:rPr>
              <a:t>Components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Novice and Expert Measures</a:t>
            </a:r>
            <a:endParaRPr>
              <a:solidFill>
                <a:srgbClr val="494C4E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300"/>
              <a:buChar char="●"/>
            </a:pPr>
            <a:r>
              <a:rPr lang="en">
                <a:solidFill>
                  <a:srgbClr val="494C4E"/>
                </a:solidFill>
              </a:rPr>
              <a:t>Takeaways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Most variables have a strong negative influence on the opposing set of variables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Balance has the strongest influence of any variable in the correlation</a:t>
            </a:r>
            <a:endParaRPr>
              <a:solidFill>
                <a:srgbClr val="494C4E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494C4E"/>
              </a:buClr>
              <a:buSzPts val="1100"/>
              <a:buChar char="○"/>
            </a:pPr>
            <a:r>
              <a:rPr lang="en">
                <a:solidFill>
                  <a:srgbClr val="494C4E"/>
                </a:solidFill>
              </a:rPr>
              <a:t>Shows that novice and expert measures of coffee quality are associated with one another</a:t>
            </a:r>
            <a:endParaRPr>
              <a:solidFill>
                <a:srgbClr val="494C4E"/>
              </a:solidFill>
            </a:endParaRPr>
          </a:p>
        </p:txBody>
      </p:sp>
      <p:pic>
        <p:nvPicPr>
          <p:cNvPr id="285" name="Google Shape;285;p39"/>
          <p:cNvPicPr preferRelativeResize="0"/>
          <p:nvPr/>
        </p:nvPicPr>
        <p:blipFill rotWithShape="1">
          <a:blip r:embed="rId3">
            <a:alphaModFix/>
          </a:blip>
          <a:srcRect b="0" l="0" r="48373" t="0"/>
          <a:stretch/>
        </p:blipFill>
        <p:spPr>
          <a:xfrm>
            <a:off x="729450" y="1318650"/>
            <a:ext cx="4145250" cy="370194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9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CCA for Quality Measures</a:t>
            </a:r>
            <a:endParaRPr/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729450" y="1318650"/>
            <a:ext cx="12561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First Variate (Balance)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0"/>
          <p:cNvPicPr preferRelativeResize="0"/>
          <p:nvPr/>
        </p:nvPicPr>
        <p:blipFill rotWithShape="1">
          <a:blip r:embed="rId3">
            <a:alphaModFix/>
          </a:blip>
          <a:srcRect b="52761" l="66233" r="0" t="0"/>
          <a:stretch/>
        </p:blipFill>
        <p:spPr>
          <a:xfrm>
            <a:off x="729450" y="1873025"/>
            <a:ext cx="3186351" cy="205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0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Diagnostics</a:t>
            </a:r>
            <a:endParaRPr/>
          </a:p>
        </p:txBody>
      </p:sp>
      <p:pic>
        <p:nvPicPr>
          <p:cNvPr id="294" name="Google Shape;294;p40"/>
          <p:cNvPicPr preferRelativeResize="0"/>
          <p:nvPr/>
        </p:nvPicPr>
        <p:blipFill rotWithShape="1">
          <a:blip r:embed="rId3">
            <a:alphaModFix/>
          </a:blip>
          <a:srcRect b="2036" l="65429" r="803" t="46012"/>
          <a:stretch/>
        </p:blipFill>
        <p:spPr>
          <a:xfrm>
            <a:off x="5121425" y="1873025"/>
            <a:ext cx="2897318" cy="20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>
            <p:ph type="title"/>
          </p:nvPr>
        </p:nvSpPr>
        <p:spPr>
          <a:xfrm>
            <a:off x="729450" y="556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Visualizing Balance Variate</a:t>
            </a:r>
            <a:endParaRPr/>
          </a:p>
        </p:txBody>
      </p:sp>
      <p:pic>
        <p:nvPicPr>
          <p:cNvPr id="300" name="Google Shape;300;p41"/>
          <p:cNvPicPr preferRelativeResize="0"/>
          <p:nvPr/>
        </p:nvPicPr>
        <p:blipFill rotWithShape="1">
          <a:blip r:embed="rId3">
            <a:alphaModFix/>
          </a:blip>
          <a:srcRect b="0" l="3353" r="0" t="6768"/>
          <a:stretch/>
        </p:blipFill>
        <p:spPr>
          <a:xfrm>
            <a:off x="729450" y="1333875"/>
            <a:ext cx="6584725" cy="34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729450" y="642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306" name="Google Shape;306;p42"/>
          <p:cNvSpPr txBox="1"/>
          <p:nvPr>
            <p:ph idx="1" type="body"/>
          </p:nvPr>
        </p:nvSpPr>
        <p:spPr>
          <a:xfrm>
            <a:off x="729450" y="1434575"/>
            <a:ext cx="76887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Aroma, flavor, aftertaste, acidity, body, balance, and moisture variables represent </a:t>
            </a:r>
            <a:r>
              <a:rPr lang="en" sz="1100"/>
              <a:t>approximately</a:t>
            </a:r>
            <a:r>
              <a:rPr lang="en" sz="1100"/>
              <a:t> 70% of the cupper points variance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Component One/Factor One contained the significant variables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Limitations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	-missing data was included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	-selected tasters were used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	-only two coffee bean varieties used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Future Works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	</a:t>
            </a:r>
            <a:r>
              <a:rPr lang="en" sz="1100"/>
              <a:t>-use other coffee bean flavors to determine quality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	-modifications to coffee bean genomes to see the effect on health and taste quality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>
            <p:ph type="title"/>
          </p:nvPr>
        </p:nvSpPr>
        <p:spPr>
          <a:xfrm>
            <a:off x="729450" y="60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729450" y="1441200"/>
            <a:ext cx="7688700" cy="3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-important variables in determining the quality of coffee was</a:t>
            </a:r>
            <a:r>
              <a:rPr lang="en"/>
              <a:t> a</a:t>
            </a:r>
            <a:r>
              <a:rPr lang="en"/>
              <a:t>roma, flavor, aftertaste, acidity, body, balance, and moisture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-defects were omitted from further analysis as they were found to be insignificant in our study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-further research and funds should be directed to quality taste factors rather preventing defects in beans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-higher quality coffee can have a wide range of implications, such as agriculture changes,  health benefits, and even improving economies, just by increasing consumption!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To maximize Cupper.Points is to have high values in flavor and aftertaste and low values in moisture, meaning good coffee taste and flavor with less moistrue in beans.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